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</p:sldIdLst>
  <p:sldSz cx="9144000" cy="5143500" type="screen16x9"/>
  <p:notesSz cx="6858000" cy="9144000"/>
  <p:defaultTextStyle>
    <a:lvl1pPr marL="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 lang="zh-CN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30" autoAdjust="0"/>
    <p:restoredTop sz="87621" autoAdjust="0"/>
  </p:normalViewPr>
  <p:slideViewPr>
    <p:cSldViewPr>
      <p:cViewPr varScale="1">
        <p:scale>
          <a:sx n="72" d="100"/>
          <a:sy n="72" d="100"/>
        </p:scale>
        <p:origin x="-102" y="-22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东部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西部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北部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45.9</c:v>
                </c:pt>
                <c:pt idx="1">
                  <c:v>46.9</c:v>
                </c:pt>
                <c:pt idx="2">
                  <c:v>45</c:v>
                </c:pt>
                <c:pt idx="3">
                  <c:v>43.9</c:v>
                </c:pt>
              </c:numCache>
            </c:numRef>
          </c:val>
        </c:ser>
        <c:overlap val="-25"/>
        <c:axId val="44205952"/>
        <c:axId val="34219136"/>
      </c:barChart>
      <c:catAx>
        <c:axId val="44205952"/>
        <c:scaling>
          <c:orientation val="minMax"/>
        </c:scaling>
        <c:axPos val="b"/>
        <c:majorTickMark val="none"/>
        <c:tickLblPos val="nextTo"/>
        <c:crossAx val="34219136"/>
        <c:crosses val="autoZero"/>
        <c:auto val="1"/>
        <c:lblAlgn val="ctr"/>
        <c:lblOffset val="100"/>
      </c:catAx>
      <c:valAx>
        <c:axId val="34219136"/>
        <c:scaling>
          <c:orientation val="minMax"/>
        </c:scaling>
        <c:delete val="1"/>
        <c:axPos val="l"/>
        <c:numFmt formatCode="General" sourceLinked="1"/>
        <c:tickLblPos val="nextTo"/>
        <c:crossAx val="44205952"/>
        <c:crosses val="autoZero"/>
        <c:crossBetween val="between"/>
      </c:valAx>
    </c:plotArea>
    <c:legend>
      <c:legendPos val="t"/>
      <c:layout/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sz="1200" lang="zh-CN"/>
            </a:lvl1pPr>
            <a:extLst/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sz="1200" lang="zh-CN"/>
            </a:lvl1pPr>
            <a:extLst/>
          </a:lstStyle>
          <a:p>
            <a:fld id="{A8ADFD5B-A66C-449C-B6E8-FB716D07777D}" type="datetimeFigureOut">
              <a:pPr/>
              <a:t>6/30/2006</a:t>
            </a:fld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sz="1200" lang="zh-CN"/>
            </a:lvl1pPr>
            <a:extLst/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sz="1200" lang="zh-CN"/>
            </a:lvl1pPr>
            <a:extLst/>
          </a:lstStyle>
          <a:p>
            <a:fld id="{CA5D3BF3-D352-46FC-8343-31F56E6730EA}" type="slidenum">
              <a:p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200" kern="1200" lang="zh-CN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1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2</a:t>
            </a:fld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3</a:t>
            </a:fld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4</a:t>
            </a:fld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5</a:t>
            </a:fld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6</a:t>
            </a:fld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7</a:t>
            </a:fld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zh-CN" smtClean="0"/>
              <a:pPr/>
              <a:t>8</a:t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latinLnBrk="0">
              <a:buNone/>
              <a:defRPr sz="2800" lang="zh-CN">
                <a:solidFill>
                  <a:srgbClr val="FFFFFF"/>
                </a:solidFill>
              </a:defRPr>
            </a:lvl1pPr>
            <a:lvl2pPr marL="457200" indent="0" algn="ctr" latinLnBrk="0">
              <a:buNone/>
            </a:lvl2pPr>
            <a:lvl3pPr marL="914400" indent="0" algn="ctr" latinLnBrk="0">
              <a:buNone/>
            </a:lvl3pPr>
            <a:lvl4pPr marL="1371600" indent="0" algn="ctr" latinLnBrk="0">
              <a:buNone/>
            </a:lvl4pPr>
            <a:lvl5pPr marL="1828800" indent="0" algn="ctr" latinLnBrk="0">
              <a:buNone/>
            </a:lvl5pPr>
            <a:lvl6pPr marL="2286000" indent="0" algn="ctr" latinLnBrk="0">
              <a:buNone/>
            </a:lvl6pPr>
            <a:lvl7pPr marL="2743200" indent="0" algn="ctr" latinLnBrk="0">
              <a:buNone/>
            </a:lvl7pPr>
            <a:lvl8pPr marL="3200400" indent="0" algn="ctr" latinLnBrk="0">
              <a:buNone/>
            </a:lvl8pPr>
            <a:lvl9pPr marL="3657600" indent="0" algn="ctr" latinLnBrk="0">
              <a:buNone/>
            </a:lvl9pPr>
            <a:extLst/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latinLnBrk="0">
              <a:defRPr sz="2000" lang="zh-CN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zh-CN">
                <a:solidFill>
                  <a:srgbClr val="FFFFFF"/>
                </a:solidFill>
              </a:rPr>
              <a:pPr algn="ctr"/>
              <a:t>6/30/2006</a:t>
            </a:fld>
            <a:endParaRPr sz="2000" lang="zh-CN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latinLnBrk="0">
              <a:defRPr cap="all" baseline="0" lang="zh-CN"/>
            </a:lvl1pPr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pPr/>
              <a:t>6/30/2006</a:t>
            </a:fld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sz="1400" b="1" lang="zh-CN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latinLnBrk="0">
              <a:buNone/>
              <a:defRPr sz="2800" lang="zh-CN">
                <a:solidFill>
                  <a:schemeClr val="tx2"/>
                </a:solidFill>
              </a:defRPr>
            </a:lvl1pPr>
            <a:lvl2pPr latinLnBrk="0">
              <a:buNone/>
              <a:defRPr sz="1800" lang="zh-CN">
                <a:solidFill>
                  <a:schemeClr val="tx1">
                    <a:tint val="75000"/>
                  </a:schemeClr>
                </a:solidFill>
              </a:defRPr>
            </a:lvl2pPr>
            <a:lvl3pPr latinLnBrk="0">
              <a:buNone/>
              <a:defRPr sz="1600" lang="zh-CN">
                <a:solidFill>
                  <a:schemeClr val="tx1">
                    <a:tint val="75000"/>
                  </a:schemeClr>
                </a:solidFill>
              </a:defRPr>
            </a:lvl3pPr>
            <a:lvl4pPr latinLnBrk="0">
              <a:buNone/>
              <a:defRPr sz="1400" lang="zh-CN">
                <a:solidFill>
                  <a:schemeClr val="tx1">
                    <a:tint val="75000"/>
                  </a:schemeClr>
                </a:solidFill>
              </a:defRPr>
            </a:lvl4pPr>
            <a:lvl5pPr latinLnBrk="0">
              <a:buNone/>
              <a:defRPr sz="1400" lang="zh-CN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latinLnBrk="0">
              <a:buNone/>
              <a:defRPr sz="4400" b="0" cap="none" lang="zh-CN">
                <a:solidFill>
                  <a:srgbClr val="FFFFFF"/>
                </a:solidFill>
              </a:defRPr>
            </a:lvl1pPr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pPr/>
              <a:t>6/30/2006</a:t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latinLnBrk="0">
              <a:defRPr sz="2400" lang="zh-CN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sz="2400" b="1" lang="zh-CN">
                <a:solidFill>
                  <a:srgbClr val="FFFFFF"/>
                </a:solidFill>
              </a:rPr>
              <a:pPr algn="ctr"/>
              <a:t>‹#›</a:t>
            </a:fld>
            <a:endParaRPr sz="2400" lang="zh-CN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6/30/2006</a:t>
            </a:fld>
            <a:endParaRPr 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sz="1400" b="1" lang="zh-CN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latinLnBrk="0">
              <a:defRPr lang="zh-CN"/>
            </a:lvl1pPr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6/30/2006</a:t>
            </a:fld>
            <a:endParaRPr 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sz="1400" b="1" lang="zh-CN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zh-C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latinLnBrk="0">
              <a:buFontTx/>
              <a:buNone/>
              <a:defRPr sz="2000" b="1" lang="zh-CN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latinLnBrk="0">
              <a:buFontTx/>
              <a:buNone/>
              <a:defRPr sz="2000" b="1" lang="zh-CN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pPr/>
              <a:t>6/30/2006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pPr/>
              <a:t>6/30/2006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latinLnBrk="0">
              <a:buNone/>
              <a:defRPr sz="4200" b="0" lang="zh-CN"/>
            </a:lvl1pPr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pPr/>
              <a:t>6/30/2006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sz="1800" lang="zh-CN"/>
            </a:lvl1pPr>
            <a:lvl2pPr latinLnBrk="0">
              <a:buNone/>
              <a:defRPr sz="1200" lang="zh-CN"/>
            </a:lvl2pPr>
            <a:lvl3pPr latinLnBrk="0">
              <a:buNone/>
              <a:defRPr sz="1000" lang="zh-CN"/>
            </a:lvl3pPr>
            <a:lvl4pPr latinLnBrk="0">
              <a:buNone/>
              <a:defRPr sz="900" lang="zh-CN"/>
            </a:lvl4pPr>
            <a:lvl5pPr latinLnBrk="0">
              <a:buNone/>
              <a:defRPr sz="900" lang="zh-CN"/>
            </a:lvl5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latinLnBrk="0">
              <a:buNone/>
              <a:defRPr sz="3200" lang="zh-CN"/>
            </a:lvl1pPr>
            <a:extLst/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latinLnBrk="0">
              <a:buFontTx/>
              <a:buNone/>
              <a:defRPr sz="1700" lang="zh-CN"/>
            </a:lvl1pPr>
            <a:lvl2pPr latinLnBrk="0">
              <a:buFontTx/>
              <a:buNone/>
              <a:defRPr sz="1200" lang="zh-CN"/>
            </a:lvl2pPr>
            <a:lvl3pPr latinLnBrk="0">
              <a:buFontTx/>
              <a:buNone/>
              <a:defRPr sz="1000" lang="zh-CN"/>
            </a:lvl3pPr>
            <a:lvl4pPr latinLnBrk="0">
              <a:buFontTx/>
              <a:buNone/>
              <a:defRPr sz="900" lang="zh-CN"/>
            </a:lvl4pPr>
            <a:lvl5pPr latinLnBrk="0">
              <a:buFontTx/>
              <a:buNone/>
              <a:defRPr sz="900" lang="zh-CN"/>
            </a:lvl5pPr>
            <a:extLst/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latinLnBrk="0">
              <a:buNone/>
              <a:defRPr sz="2800" b="0" lang="zh-CN">
                <a:solidFill>
                  <a:srgbClr val="FFFFFF"/>
                </a:solidFill>
              </a:defRPr>
            </a:lvl1pPr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pPr/>
              <a:t>6/30/2006</a:t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latinLnBrk="0">
              <a:defRPr sz="2800" lang="zh-CN"/>
            </a:lvl1pPr>
            <a:extLst/>
          </a:lstStyle>
          <a:p>
            <a:pPr algn="ctr"/>
            <a:fld id="{8F82E0A0-C266-4798-8C8F-B9F91E9DA37E}" type="slidenum">
              <a:rPr sz="2800" b="1" lang="zh-CN">
                <a:solidFill>
                  <a:srgbClr val="FFFFFF"/>
                </a:solidFill>
              </a:rPr>
              <a:pPr algn="ctr"/>
              <a:t>‹#›</a:t>
            </a:fld>
            <a:endParaRPr sz="2800"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  <a:p>
            <a:pPr lvl="5"/>
            <a:endParaRPr lang="zh-C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sz="1400" lang="zh-CN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6/30/2006</a:t>
            </a:fld>
            <a:endParaRPr sz="1400" lang="zh-CN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sz="1400" lang="zh-CN">
                <a:solidFill>
                  <a:schemeClr val="tx2"/>
                </a:solidFill>
              </a:defRPr>
            </a:lvl1pPr>
            <a:extLst/>
          </a:lstStyle>
          <a:p>
            <a:pPr algn="r"/>
            <a:endParaRPr sz="1400" lang="zh-CN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sz="1400" b="1" lang="zh-CN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sz="1400" b="1" lang="zh-CN">
                <a:solidFill>
                  <a:srgbClr val="FFFFFF"/>
                </a:solidFill>
              </a:rPr>
              <a:pPr algn="ctr"/>
              <a:t>‹#›</a:t>
            </a:fld>
            <a:endParaRPr sz="1400" b="1" lang="zh-CN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sz="4200" kern="1200" lang="zh-CN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/>
        <a:buNone/>
        <a:defRPr sz="1800" kern="1200" baseline="0" lang="zh-CN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/>
        <a:buChar char="§"/>
        <a:defRPr sz="1800" kern="1200" baseline="0" lang="zh-CN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/>
        <a:buChar char="§"/>
        <a:defRPr sz="1800" kern="1200" baseline="0" lang="zh-CN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/>
        <a:buChar char="§"/>
        <a:defRPr sz="1800" kern="1200" baseline="0" lang="zh-CN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latinLnBrk="0">
        <a:defRPr kern="1200" lang="zh-CN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B29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48640" y="411480"/>
            <a:ext cx="2377440" cy="310896"/>
          </a:xfrm>
          <a:prstGeom prst="roundRect">
            <a:avLst/>
          </a:prstGeom>
          <a:solidFill>
            <a:srgbClr val="19C2A0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B29"/>
                </a:solidFill>
                <a:latin typeface="Calibri"/>
                <a:ea typeface="Calibri"/>
                <a:cs typeface="Calibri"/>
              </a:rPr>
              <a:t>AI security micropayments on Arc</a:t>
            </a:r>
            <a:endParaRPr lang="en-US" sz="1200">
              <a:solidFill>
                <a:srgbClr val="081B29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48640" y="896112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LaunchShield Swarm</a:t>
            </a: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48640" y="164592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AI security is already a swarm of tiny actions.</a:t>
            </a:r>
            <a:endParaRPr lang="en-US" sz="20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20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Billing and proving each action is the missing layer.</a:t>
            </a:r>
            <a:endParaRPr lang="en-US" sz="2000">
              <a:solidFill>
                <a:srgbClr val="19C2A0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48640" y="274320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audit becomes dozens of atomic security tool calls.</a:t>
            </a:r>
            <a:endParaRPr lang="en-US" sz="15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30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LaunchShield turns those calls into a live execution feed, a live billing feed, and a verifiable evidence trail.</a:t>
            </a:r>
            <a:endParaRPr lang="en-US" sz="1300">
              <a:solidFill>
                <a:srgbClr val="DCE7F3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989320" y="896112"/>
            <a:ext cx="2606040" cy="2057400"/>
          </a:xfrm>
          <a:prstGeom prst="roundRect">
            <a:avLst/>
          </a:prstGeom>
          <a:solidFill>
            <a:srgbClr val="12314A"/>
          </a:solidFill>
          <a:ln w="12700">
            <a:solidFill>
              <a:srgbClr val="19C2A0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63</a:t>
            </a:r>
            <a:endParaRPr lang="en-US" sz="2800">
              <a:solidFill>
                <a:srgbClr val="19C2A0"/>
              </a:solidFill>
            </a:endParaRPr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paid invocations</a:t>
            </a:r>
            <a:endParaRPr lang="en-US" sz="130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A9BCD0"/>
                </a:solidFill>
                <a:latin typeface="Calibri"/>
                <a:ea typeface="Calibri"/>
                <a:cs typeface="Calibri"/>
              </a:rPr>
              <a:t>in the preset stress run</a:t>
            </a:r>
            <a:endParaRPr lang="en-US" sz="1100">
              <a:solidFill>
                <a:srgbClr val="A9BCD0"/>
              </a:solidFill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4D6"/>
                </a:solidFill>
                <a:latin typeface="Calibri"/>
                <a:ea typeface="Calibri"/>
                <a:cs typeface="Calibri"/>
              </a:rPr>
              <a:t>$0.001 - $0.008 per call</a:t>
            </a:r>
            <a:endParaRPr lang="en-US" sz="1200">
              <a:solidFill>
                <a:srgbClr val="FFF4D6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989320" y="3154680"/>
            <a:ext cx="2606040" cy="960120"/>
          </a:xfrm>
          <a:prstGeom prst="roundRect">
            <a:avLst/>
          </a:prstGeom>
          <a:solidFill>
            <a:srgbClr val="0E2336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Core proof</a:t>
            </a:r>
            <a:endParaRPr lang="en-US" sz="11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billing row + result + settlement reference</a:t>
            </a: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548640" y="4160520"/>
            <a:ext cx="1188720" cy="3474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Repo scans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920240" y="4160520"/>
            <a:ext cx="1325880" cy="3474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Dependency checks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456432" y="4160520"/>
            <a:ext cx="1417320" cy="3474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Browser probes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102352" y="4160520"/>
            <a:ext cx="1463040" cy="3474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Deep LLM review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839712" y="4160520"/>
            <a:ext cx="1325880" cy="3474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Fix suggestions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14" name="Shape 14"/>
          <p:cNvSpPr/>
          <p:nvPr/>
        </p:nvSpPr>
        <p:spPr>
          <a:xfrm>
            <a:off x="566928" y="4645152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A9BCD0"/>
                </a:solidFill>
                <a:latin typeface="Calibri"/>
                <a:ea typeface="Calibri"/>
                <a:cs typeface="Calibri"/>
              </a:rPr>
              <a:t>Red Snail hackathon submission deck</a:t>
            </a:r>
            <a:endParaRPr lang="en-US" sz="1000">
              <a:solidFill>
                <a:srgbClr val="A9BCD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The execution model already changed. The payment model did not.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AI security work creates many high-signal actions with very low value per call.</a:t>
            </a:r>
            <a:endParaRPr lang="en-US" sz="135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2788920" cy="2697480"/>
          </a:xfrm>
          <a:prstGeom prst="roundRect">
            <a:avLst/>
          </a:prstGeom>
          <a:solidFill>
            <a:srgbClr val="081B29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B6C8D8"/>
                </a:solidFill>
                <a:latin typeface="Calibri"/>
                <a:ea typeface="Calibri"/>
                <a:cs typeface="Calibri"/>
              </a:rPr>
              <a:t>1 audit</a:t>
            </a:r>
            <a:endParaRPr lang="en-US" sz="1500">
              <a:solidFill>
                <a:srgbClr val="B6C8D8"/>
              </a:solidFill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40-60</a:t>
            </a:r>
            <a:endParaRPr lang="en-US" sz="2800">
              <a:solidFill>
                <a:srgbClr val="19C2A0"/>
              </a:solidFill>
            </a:endParaRPr>
          </a:p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atomic tool calls</a:t>
            </a:r>
            <a:endParaRPr lang="en-US" sz="160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20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Each call matters. Each call is too cheap for legacy settlement.</a:t>
            </a:r>
            <a:endParaRPr lang="en-US" sz="1200">
              <a:solidFill>
                <a:srgbClr val="DCE7F3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3657600" y="132588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Sub-cent value</a:t>
            </a:r>
            <a:endParaRPr lang="en-US" sz="13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Many tasks cost less than one cent.</a:t>
            </a:r>
            <a:endParaRPr lang="en-US" sz="1150">
              <a:solidFill>
                <a:srgbClr val="627D98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3657600" y="219456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High trust requirement</a:t>
            </a:r>
            <a:endParaRPr lang="en-US" sz="13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Security buyers want proof and provenance.</a:t>
            </a:r>
            <a:endParaRPr lang="en-US" sz="1150">
              <a:solidFill>
                <a:srgbClr val="627D98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3657600" y="306324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Bad legacy fit</a:t>
            </a:r>
            <a:endParaRPr lang="en-US" sz="13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Card rails and high-gas chains crush margin.</a:t>
            </a:r>
            <a:endParaRPr lang="en-US" sz="1150">
              <a:solidFill>
                <a:srgbClr val="627D98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502920" y="4206240"/>
            <a:ext cx="8092440" cy="457200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73152" tIns="73152" rIns="73152" bIns="73152" anchor="ctr"/>
          <a:lstStyle/>
          <a:p>
            <a:pPr marL="0" indent="0" algn="ctr">
              <a:buNone/>
            </a:pPr>
            <a:r>
              <a:rPr lang="en-US" sz="118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Flat pricing hides execution quality, hides cost structure, and hides proof of delivery.</a:t>
            </a:r>
            <a:endParaRPr lang="en-US" sz="1180">
              <a:solidFill>
                <a:srgbClr val="0E5E5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1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Micropayments turn AI work from a black box into a priced workflow.</a:t>
            </a:r>
            <a:endParaRPr lang="en-US" sz="215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When each invocation has a price, a result, and a receipt, the workflow becomes commercially legible.</a:t>
            </a:r>
            <a:endParaRPr lang="en-US" sz="130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417320"/>
            <a:ext cx="1920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5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Invocation</a:t>
            </a:r>
            <a:endParaRPr lang="en-US" sz="15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Which tool ran against which target.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2560320" y="1417320"/>
            <a:ext cx="1920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5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Price</a:t>
            </a:r>
            <a:endParaRPr lang="en-US" sz="15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stablecoin-denominated micro-charge.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4617720" y="1417320"/>
            <a:ext cx="1920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5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Result</a:t>
            </a:r>
            <a:endParaRPr lang="en-US" sz="15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concrete finding, proof, or artifact.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6675120" y="1417320"/>
            <a:ext cx="1920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5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Receipt</a:t>
            </a:r>
            <a:endParaRPr lang="en-US" sz="15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settlement reference that can be checked.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502920" y="3703320"/>
            <a:ext cx="8092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Why it matters</a:t>
            </a:r>
            <a:endParaRPr lang="en-US" sz="13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4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Buyers see what happened. Builders see where value is created. Security teams get proof instead of a black-box summary.</a:t>
            </a:r>
            <a:endParaRPr lang="en-US" sz="1140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What LaunchShield Swarm does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One AI security audit is broken into priced micro-tasks and rendered live.</a:t>
            </a:r>
            <a:endParaRPr lang="en-US" sz="132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2880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 single run includes</a:t>
            </a:r>
            <a:endParaRPr lang="en-US" sz="13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- Repository file scanning</a:t>
            </a:r>
            <a:endParaRPr lang="en-US" sz="1180">
              <a:solidFill>
                <a:srgbClr val="627D98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- Dependency vulnerability lookups</a:t>
            </a:r>
            <a:endParaRPr lang="en-US" sz="1180">
              <a:solidFill>
                <a:srgbClr val="627D98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- Live site probing</a:t>
            </a:r>
            <a:endParaRPr lang="en-US" sz="1180">
              <a:solidFill>
                <a:srgbClr val="627D98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- Deep LLM review of high-risk findings</a:t>
            </a:r>
            <a:endParaRPr lang="en-US" sz="1180">
              <a:solidFill>
                <a:srgbClr val="627D98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- Verification and fix suggestions</a:t>
            </a:r>
            <a:endParaRPr lang="en-US" sz="1180">
              <a:solidFill>
                <a:srgbClr val="627D98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3657600" y="1325880"/>
            <a:ext cx="4937760" cy="2926080"/>
          </a:xfrm>
          <a:prstGeom prst="roundRect">
            <a:avLst/>
          </a:prstGeom>
          <a:solidFill>
            <a:srgbClr val="12314A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Live product loop</a:t>
            </a:r>
            <a:endParaRPr lang="en-US" sz="135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24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Trigger a run</a:t>
            </a:r>
            <a:endParaRPr lang="en-US" sz="124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2. Fan out into atomic tool calls</a:t>
            </a:r>
            <a:endParaRPr lang="en-US" sz="1180">
              <a:solidFill>
                <a:srgbClr val="DCE7F3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3. Stream execution + billing together</a:t>
            </a:r>
            <a:endParaRPr lang="en-US" sz="1180">
              <a:solidFill>
                <a:srgbClr val="DCE7F3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4. Surface findings and profitability in one UI</a:t>
            </a:r>
            <a:endParaRPr lang="en-US" sz="1180">
              <a:solidFill>
                <a:srgbClr val="DCE7F3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5. Attach payment references and evidence</a:t>
            </a:r>
            <a:endParaRPr lang="en-US" sz="1180">
              <a:solidFill>
                <a:srgbClr val="DCE7F3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3749040" y="4407408"/>
            <a:ext cx="1463040" cy="320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Atomic tool calls</a:t>
            </a:r>
            <a:endParaRPr lang="en-US" sz="1200">
              <a:solidFill>
                <a:srgbClr val="2D6CDF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440680" y="4407408"/>
            <a:ext cx="1783080" cy="320040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Live billing waterfall</a:t>
            </a:r>
            <a:endParaRPr lang="en-US" sz="1200">
              <a:solidFill>
                <a:srgbClr val="0E5E57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7452360" y="4407408"/>
            <a:ext cx="1051560" cy="32004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Evidence</a:t>
            </a:r>
            <a:endParaRPr lang="en-US" sz="1200">
              <a:solidFill>
                <a:srgbClr val="8A5A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System architecture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provider-based orchestration layer turns AI security work into billable, observable execution.</a:t>
            </a:r>
            <a:endParaRPr lang="en-US" sz="130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94360" y="1325880"/>
            <a:ext cx="7955280" cy="804672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txBody>
          <a:bodyPr wrap="square" lIns="128016" tIns="128016" rIns="128016" bIns="128016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2D6CDF"/>
                </a:solidFill>
                <a:latin typeface="Trebuchet MS"/>
                <a:ea typeface="Trebuchet MS"/>
                <a:cs typeface="Trebuchet MS"/>
              </a:rPr>
              <a:t>Frontend</a:t>
            </a:r>
            <a:endParaRPr lang="en-US" sz="145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16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FastAPI web app   |   templated UI   |   SSE event stream</a:t>
            </a:r>
            <a:endParaRPr lang="en-US" sz="1160">
              <a:solidFill>
                <a:srgbClr val="2D6CDF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94360" y="2304288"/>
            <a:ext cx="79552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28016" tIns="128016" rIns="128016" bIns="128016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Core runtime</a:t>
            </a:r>
            <a:endParaRPr lang="en-US" sz="14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6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Orchestrator   |   pricing engine   |   run storage + profitability</a:t>
            </a:r>
            <a:endParaRPr lang="en-US" sz="1160">
              <a:solidFill>
                <a:srgbClr val="102A43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94360" y="3419856"/>
            <a:ext cx="7955280" cy="8046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128016" tIns="128016" rIns="128016" bIns="128016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0E5E57"/>
                </a:solidFill>
                <a:latin typeface="Trebuchet MS"/>
                <a:ea typeface="Trebuchet MS"/>
                <a:cs typeface="Trebuchet MS"/>
              </a:rPr>
              <a:t>Provider adapters</a:t>
            </a:r>
            <a:endParaRPr lang="en-US" sz="1450">
              <a:solidFill>
                <a:srgbClr val="0E5E57"/>
              </a:solidFill>
            </a:endParaRPr>
          </a:p>
          <a:p>
            <a:pPr marL="0" indent="0" algn="l">
              <a:buNone/>
            </a:pPr>
            <a:r>
              <a:rPr lang="en-US" sz="116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GitHub / repo source   |   browser + LLM + AIsa   |   Arc / Circle</a:t>
            </a:r>
            <a:endParaRPr lang="en-US" sz="1160">
              <a:solidFill>
                <a:srgbClr val="0E5E57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94360" y="4434840"/>
            <a:ext cx="7955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73152" tIns="73152" rIns="73152" bIns="73152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Mock-first by default. Real providers can be enabled one by one. Full repository scan mode is supported.</a:t>
            </a:r>
            <a:endParaRPr lang="en-US" sz="1080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One run becomes a live waterfall of paid actions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The billing feed is product proof, not decoration.</a:t>
            </a:r>
            <a:endParaRPr lang="en-US" sz="132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4754880" cy="3154680"/>
          </a:xfrm>
          <a:prstGeom prst="roundRect">
            <a:avLst/>
          </a:prstGeom>
          <a:solidFill>
            <a:srgbClr val="081B29"/>
          </a:solidFill>
          <a:ln>
            <a:noFill/>
          </a:ln>
        </p:spPr>
        <p:txBody>
          <a:bodyPr wrap="square" lIns="128016" tIns="128016" rIns="128016" bIns="128016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Preset stress run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22:15:37   file_scan       launchshield/app.py        0.001 USDC</a:t>
            </a:r>
            <a:endParaRPr lang="en-US" sz="11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22:15:42   dep_lookup      fastapi&gt;=0.110            0.001 USDC</a:t>
            </a:r>
            <a:endParaRPr lang="en-US" sz="11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22:15:49   site_probe      target / headers          0.001 USDC</a:t>
            </a:r>
            <a:endParaRPr lang="en-US" sz="11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22:15:55   deep_analysis   dangerous_eval            0.008 USDC</a:t>
            </a:r>
            <a:endParaRPr lang="en-US" sz="11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22:16:03   aisa_verify     hardcoded_secret          0.001 USDC</a:t>
            </a:r>
            <a:endParaRPr lang="en-US" sz="11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22:16:12   fix_suggestion  repo_scan.py:49           0.001 USDC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532120" y="1325880"/>
            <a:ext cx="3063240" cy="80467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l">
              <a:buNone/>
            </a:pPr>
            <a:r>
              <a:rPr lang="en-US" sz="1850" b="1">
                <a:solidFill>
                  <a:srgbClr val="0E5E57"/>
                </a:solidFill>
                <a:latin typeface="Trebuchet MS"/>
                <a:ea typeface="Trebuchet MS"/>
                <a:cs typeface="Trebuchet MS"/>
              </a:rPr>
              <a:t>63</a:t>
            </a:r>
            <a:endParaRPr lang="en-US" sz="1850">
              <a:solidFill>
                <a:srgbClr val="0E5E57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paid tool invocations</a:t>
            </a:r>
            <a:endParaRPr lang="en-US" sz="1080">
              <a:solidFill>
                <a:srgbClr val="0E5E57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532120" y="2258568"/>
            <a:ext cx="3063240" cy="804672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l">
              <a:buNone/>
            </a:pPr>
            <a:r>
              <a:rPr lang="en-US" sz="1850" b="1">
                <a:solidFill>
                  <a:srgbClr val="2D6CDF"/>
                </a:solidFill>
                <a:latin typeface="Trebuchet MS"/>
                <a:ea typeface="Trebuchet MS"/>
                <a:cs typeface="Trebuchet MS"/>
              </a:rPr>
              <a:t>$0.001-$0.008</a:t>
            </a:r>
            <a:endParaRPr lang="en-US" sz="185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per call pricing</a:t>
            </a:r>
            <a:endParaRPr lang="en-US" sz="1080">
              <a:solidFill>
                <a:srgbClr val="2D6CDF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532120" y="3191256"/>
            <a:ext cx="3063240" cy="8046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l">
              <a:buNone/>
            </a:pPr>
            <a:r>
              <a:rPr lang="en-US" sz="1850" b="1">
                <a:solidFill>
                  <a:srgbClr val="8A5A00"/>
                </a:solidFill>
                <a:latin typeface="Trebuchet MS"/>
                <a:ea typeface="Trebuchet MS"/>
                <a:cs typeface="Trebuchet MS"/>
              </a:rPr>
              <a:t>Live refs</a:t>
            </a:r>
            <a:endParaRPr lang="en-US" sz="1850">
              <a:solidFill>
                <a:srgbClr val="8A5A00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each row can carry a settlement reference</a:t>
            </a:r>
            <a:endParaRPr lang="en-US" sz="1080">
              <a:solidFill>
                <a:srgbClr val="8A5A00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5532120" y="4160520"/>
            <a:ext cx="30632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54864" tIns="54864" rIns="54864" bIns="54864" anchor="ctr"/>
          <a:lstStyle/>
          <a:p>
            <a:pPr marL="0" indent="0" algn="ctr">
              <a:buNone/>
            </a:pPr>
            <a:r>
              <a:rPr lang="en-US" sz="10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Cost and provenance stay visible at tool-call granularity.</a:t>
            </a:r>
            <a:endParaRPr lang="en-US" sz="1020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High-signal outputs, not vague summaries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The run produces concrete findings, deeper review, and fix guidance.</a:t>
            </a:r>
            <a:endParaRPr lang="en-US" sz="130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D64550"/>
                </a:solidFill>
                <a:latin typeface="Calibri"/>
                <a:ea typeface="Calibri"/>
                <a:cs typeface="Calibri"/>
              </a:rPr>
              <a:t>High</a:t>
            </a:r>
            <a:endParaRPr lang="en-US" sz="1050">
              <a:solidFill>
                <a:srgbClr val="D64550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Hardcoded secret exposure</a:t>
            </a:r>
            <a:endParaRPr lang="en-US" sz="13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06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Credential material in source indicates unsafe secret handling.</a:t>
            </a:r>
            <a:endParaRPr lang="en-US" sz="1060">
              <a:solidFill>
                <a:srgbClr val="627D98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02920" y="2276856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D64550"/>
                </a:solidFill>
                <a:latin typeface="Calibri"/>
                <a:ea typeface="Calibri"/>
                <a:cs typeface="Calibri"/>
              </a:rPr>
              <a:t>High</a:t>
            </a:r>
            <a:endParaRPr lang="en-US" sz="1050">
              <a:solidFill>
                <a:srgbClr val="D64550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dangerous_eval in repo_scan.py:49</a:t>
            </a:r>
            <a:endParaRPr lang="en-US" sz="13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06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eval() on untrusted input creates a code injection path.</a:t>
            </a:r>
            <a:endParaRPr lang="en-US" sz="1060">
              <a:solidFill>
                <a:srgbClr val="627D98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02920" y="322783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High</a:t>
            </a:r>
            <a:endParaRPr lang="en-US" sz="1050">
              <a:solidFill>
                <a:srgbClr val="8A5A00"/>
              </a:solidFill>
            </a:endParaRPr>
          </a:p>
          <a:p>
            <a:pPr marL="0" indent="0" algn="l">
              <a:buNone/>
            </a:pPr>
            <a:r>
              <a:rPr lang="en-US" sz="13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Missing security headers</a:t>
            </a:r>
            <a:endParaRPr lang="en-US" sz="13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06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Missing CSP / HSTS / X-Frame-Options weakens browser hardening.</a:t>
            </a:r>
            <a:endParaRPr lang="en-US" sz="1060">
              <a:solidFill>
                <a:srgbClr val="627D98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532120" y="1325880"/>
            <a:ext cx="3063240" cy="2743200"/>
          </a:xfrm>
          <a:prstGeom prst="roundRect">
            <a:avLst/>
          </a:prstGeom>
          <a:solidFill>
            <a:srgbClr val="12314A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Verification path</a:t>
            </a:r>
            <a:endParaRPr lang="en-US" sz="13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 engine</a:t>
            </a:r>
            <a:endParaRPr lang="en-US" sz="12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Static heuristics flag high-confidence issues.</a:t>
            </a:r>
            <a:endParaRPr lang="en-US" sz="1080">
              <a:solidFill>
                <a:srgbClr val="DCE7F3"/>
              </a:solidFill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Deep analysis</a:t>
            </a:r>
            <a:endParaRPr lang="en-US" sz="12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OpenAI-compatible review adds context and severity detail.</a:t>
            </a:r>
            <a:endParaRPr lang="en-US" sz="1080">
              <a:solidFill>
                <a:srgbClr val="DCE7F3"/>
              </a:solidFill>
            </a:endParaRPr>
          </a:p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 suggestion</a:t>
            </a:r>
            <a:endParaRPr lang="en-US" sz="120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Actionable remediation closes the loop.</a:t>
            </a:r>
            <a:endParaRPr lang="en-US" sz="1080">
              <a:solidFill>
                <a:srgbClr val="DCE7F3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5532120" y="4224528"/>
            <a:ext cx="3063240" cy="256032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54864" tIns="54864" rIns="54864" bIns="54864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Finding cards can be traced back to per-call billing rows.</a:t>
            </a:r>
            <a:endParaRPr lang="en-US" sz="1000">
              <a:solidFill>
                <a:srgbClr val="0E5E5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Proof of settlement on Circle and Arc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Billing row -&gt; payment reference -&gt; Circle console -&gt; Arc explorer.</a:t>
            </a:r>
            <a:endParaRPr lang="en-US" sz="132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71600"/>
            <a:ext cx="1737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Billing row</a:t>
            </a:r>
            <a:endParaRPr lang="en-US" sz="1200">
              <a:solidFill>
                <a:srgbClr val="102A43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2258568" y="15179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-&gt;</a:t>
            </a:r>
            <a:endParaRPr lang="en-US" sz="1400">
              <a:solidFill>
                <a:srgbClr val="19C2A0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2651760" y="1371600"/>
            <a:ext cx="1737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Payment ref</a:t>
            </a:r>
            <a:endParaRPr lang="en-US" sz="1200">
              <a:solidFill>
                <a:srgbClr val="102A43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4407408" y="15179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-&gt;</a:t>
            </a:r>
            <a:endParaRPr lang="en-US" sz="1400">
              <a:solidFill>
                <a:srgbClr val="19C2A0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4800600" y="137160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Circle console</a:t>
            </a:r>
            <a:endParaRPr lang="en-US" sz="1200">
              <a:solidFill>
                <a:srgbClr val="102A43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739128" y="15179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-&gt;</a:t>
            </a:r>
            <a:endParaRPr lang="en-US" sz="1400">
              <a:solidFill>
                <a:srgbClr val="19C2A0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132320" y="1371600"/>
            <a:ext cx="1828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Arc explorer</a:t>
            </a:r>
            <a:endParaRPr lang="en-US" sz="1200">
              <a:solidFill>
                <a:srgbClr val="102A43"/>
              </a:solidFill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02920" y="2240280"/>
            <a:ext cx="3977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Circle receipt panel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Evidence placeholder</a:t>
            </a:r>
            <a:endParaRPr lang="en-US" sz="1200">
              <a:solidFill>
                <a:srgbClr val="19C2A0"/>
              </a:solidFill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Settlement receipt / console verification / amount + reference</a:t>
            </a:r>
            <a:endParaRPr lang="en-US" sz="1100">
              <a:solidFill>
                <a:srgbClr val="627D98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590288" y="2240280"/>
            <a:ext cx="3977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Arc explorer panel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Evidence placeholder</a:t>
            </a:r>
            <a:endParaRPr lang="en-US" sz="1200">
              <a:solidFill>
                <a:srgbClr val="19C2A0"/>
              </a:solidFill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On-chain transaction proof / tx hash / explorer deep link</a:t>
            </a:r>
            <a:endParaRPr lang="en-US" sz="1100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1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Why Arc + stablecoin settlement matters economically</a:t>
            </a:r>
            <a:endParaRPr lang="en-US" sz="21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Traditional gas-heavy settlement destroys the margin of high-frequency AI security workflows.</a:t>
            </a:r>
            <a:endParaRPr lang="en-US" sz="130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298448"/>
            <a:ext cx="80924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18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Example workflow service cost: 0.152</a:t>
            </a:r>
            <a:endParaRPr lang="en-US" sz="1180">
              <a:solidFill>
                <a:srgbClr val="102A43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02920" y="1828800"/>
            <a:ext cx="3749040" cy="2057400"/>
          </a:xfrm>
          <a:prstGeom prst="roundRect">
            <a:avLst/>
          </a:prstGeom>
          <a:solidFill>
            <a:srgbClr val="FCE8EA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D64550"/>
                </a:solidFill>
                <a:latin typeface="Trebuchet MS"/>
                <a:ea typeface="Trebuchet MS"/>
                <a:cs typeface="Trebuchet MS"/>
              </a:rPr>
              <a:t>Traditional EVM</a:t>
            </a:r>
            <a:endParaRPr lang="en-US" sz="1500">
              <a:solidFill>
                <a:srgbClr val="D64550"/>
              </a:solidFill>
            </a:endParaRPr>
          </a:p>
          <a:p>
            <a:pPr marL="0" indent="0" algn="l">
              <a:buNone/>
            </a:pPr>
            <a:r>
              <a:rPr lang="en-US" sz="2700" b="1">
                <a:solidFill>
                  <a:srgbClr val="D64550"/>
                </a:solidFill>
                <a:latin typeface="Trebuchet MS"/>
                <a:ea typeface="Trebuchet MS"/>
                <a:cs typeface="Trebuchet MS"/>
              </a:rPr>
              <a:t>$3.15</a:t>
            </a:r>
            <a:endParaRPr lang="en-US" sz="2700">
              <a:solidFill>
                <a:srgbClr val="D64550"/>
              </a:solidFill>
            </a:endParaRPr>
          </a:p>
          <a:p>
            <a:pPr marL="0" indent="0" algn="l">
              <a:buNone/>
            </a:pPr>
            <a:r>
              <a:rPr lang="en-US" sz="1200">
                <a:solidFill>
                  <a:srgbClr val="D64550"/>
                </a:solidFill>
                <a:latin typeface="Calibri"/>
                <a:ea typeface="Calibri"/>
                <a:cs typeface="Calibri"/>
              </a:rPr>
              <a:t>estimated gas overhead</a:t>
            </a:r>
            <a:endParaRPr lang="en-US" sz="1200">
              <a:solidFill>
                <a:srgbClr val="D64550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Same workflow. Margin gets crushed before the product scales.</a:t>
            </a:r>
            <a:endParaRPr lang="en-US" sz="1120">
              <a:solidFill>
                <a:srgbClr val="102A43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4846320" y="1828800"/>
            <a:ext cx="3749040" cy="2057400"/>
          </a:xfrm>
          <a:prstGeom prst="roundRect">
            <a:avLst/>
          </a:prstGeom>
          <a:solidFill>
            <a:srgbClr val="E4F6EC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F9D58"/>
                </a:solidFill>
                <a:latin typeface="Trebuchet MS"/>
                <a:ea typeface="Trebuchet MS"/>
                <a:cs typeface="Trebuchet MS"/>
              </a:rPr>
              <a:t>Arc + Circle</a:t>
            </a:r>
            <a:endParaRPr lang="en-US" sz="1500">
              <a:solidFill>
                <a:srgbClr val="0F9D58"/>
              </a:solidFill>
            </a:endParaRPr>
          </a:p>
          <a:p>
            <a:pPr marL="0" indent="0" algn="l">
              <a:buNone/>
            </a:pPr>
            <a:r>
              <a:rPr lang="en-US" sz="2500" b="1">
                <a:solidFill>
                  <a:srgbClr val="0F9D58"/>
                </a:solidFill>
                <a:latin typeface="Trebuchet MS"/>
                <a:ea typeface="Trebuchet MS"/>
                <a:cs typeface="Trebuchet MS"/>
              </a:rPr>
              <a:t>0.152 USDC</a:t>
            </a:r>
            <a:endParaRPr lang="en-US" sz="2500">
              <a:solidFill>
                <a:srgbClr val="0F9D58"/>
              </a:solidFill>
            </a:endParaRPr>
          </a:p>
          <a:p>
            <a:pPr marL="0" indent="0" algn="l">
              <a:buNone/>
            </a:pPr>
            <a:r>
              <a:rPr lang="en-US" sz="1200">
                <a:solidFill>
                  <a:srgbClr val="0F9D58"/>
                </a:solidFill>
                <a:latin typeface="Calibri"/>
                <a:ea typeface="Calibri"/>
                <a:cs typeface="Calibri"/>
              </a:rPr>
              <a:t>settled workflow cost</a:t>
            </a:r>
            <a:endParaRPr lang="en-US" sz="1200">
              <a:solidFill>
                <a:srgbClr val="0F9D58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Fair usage-based billing stays commercially viable.</a:t>
            </a:r>
            <a:endParaRPr lang="en-US" sz="1120">
              <a:solidFill>
                <a:srgbClr val="102A43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640080" y="4315968"/>
            <a:ext cx="1600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High frequency</a:t>
            </a:r>
            <a:endParaRPr lang="en-US" sz="1200">
              <a:solidFill>
                <a:srgbClr val="627D98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2423160" y="4315968"/>
            <a:ext cx="1600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Low ticket size</a:t>
            </a:r>
            <a:endParaRPr lang="en-US" sz="1200">
              <a:solidFill>
                <a:srgbClr val="627D98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206240" y="4315968"/>
            <a:ext cx="17830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Many repeated actions</a:t>
            </a:r>
            <a:endParaRPr lang="en-US" sz="1200">
              <a:solidFill>
                <a:srgbClr val="627D98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355080" y="4315968"/>
            <a:ext cx="1600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Margin-sensitive</a:t>
            </a:r>
            <a:endParaRPr lang="en-US" sz="1200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Who needs this first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The first wedge is any team that already feels the pain of opaque AI cost and opaque AI provenance.</a:t>
            </a:r>
            <a:endParaRPr lang="en-US" sz="128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AppSec teams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High trust requirements. Clear security outputs.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4572000" y="132588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Security consultancies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Per-call proof helps justify delivered work.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02920" y="26060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AI agent platforms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Need usage-based monetization primitives.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4572000" y="260604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Developer tool marketplaces</a:t>
            </a:r>
            <a:endParaRPr lang="en-US" sz="14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2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Need transparent pricing for agent actions.</a:t>
            </a:r>
            <a:endParaRPr lang="en-US" sz="1120">
              <a:solidFill>
                <a:srgbClr val="627D98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731520" y="4069080"/>
            <a:ext cx="7635240" cy="475488"/>
          </a:xfrm>
          <a:prstGeom prst="roundRect">
            <a:avLst/>
          </a:prstGeom>
          <a:solidFill>
            <a:srgbClr val="12314A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"I cannot ship an agent that costs more to settle than it charges."</a:t>
            </a:r>
            <a:endParaRPr lang="en-US"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20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Roadmap</a:t>
            </a:r>
            <a:endParaRPr lang="en-US" sz="2200">
              <a:solidFill>
                <a:srgbClr val="102A43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02920" y="8412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8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This MVP proves the workflow. The roadmap expands precision, integrations, and deployment depth.</a:t>
            </a:r>
            <a:endParaRPr lang="en-US" sz="1280">
              <a:solidFill>
                <a:srgbClr val="627D98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02920" y="1325880"/>
            <a:ext cx="2468880" cy="3108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D6CDF"/>
                </a:solidFill>
                <a:latin typeface="Trebuchet MS"/>
                <a:ea typeface="Trebuchet MS"/>
                <a:cs typeface="Trebuchet MS"/>
              </a:rPr>
              <a:t>Near term</a:t>
            </a:r>
            <a:endParaRPr lang="en-US" sz="145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- Multi-tenant runs and team workspaces</a:t>
            </a:r>
            <a:endParaRPr lang="en-US" sz="110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- Richer scanners and better findings</a:t>
            </a:r>
            <a:endParaRPr lang="en-US" sz="110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- Deeper AIsa integration</a:t>
            </a:r>
            <a:endParaRPr lang="en-US" sz="1100">
              <a:solidFill>
                <a:srgbClr val="2D6CDF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- More real-provider hardening</a:t>
            </a:r>
            <a:endParaRPr lang="en-US" sz="1100">
              <a:solidFill>
                <a:srgbClr val="2D6CDF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3246120" y="1325880"/>
            <a:ext cx="2468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102A43"/>
                </a:solidFill>
                <a:latin typeface="Trebuchet MS"/>
                <a:ea typeface="Trebuchet MS"/>
                <a:cs typeface="Trebuchet MS"/>
              </a:rPr>
              <a:t>Mid term</a:t>
            </a:r>
            <a:endParaRPr lang="en-US" sz="145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- Agent marketplace integrations</a:t>
            </a:r>
            <a:endParaRPr lang="en-US" sz="11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- Repeatable production billing flows</a:t>
            </a:r>
            <a:endParaRPr lang="en-US" sz="1100">
              <a:solidFill>
                <a:srgbClr val="102A43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- Better dashboards for many tiny settlements</a:t>
            </a:r>
            <a:endParaRPr lang="en-US" sz="1100">
              <a:solidFill>
                <a:srgbClr val="102A43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5989320" y="1325880"/>
            <a:ext cx="2468880" cy="3108960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0E5E57"/>
                </a:solidFill>
                <a:latin typeface="Trebuchet MS"/>
                <a:ea typeface="Trebuchet MS"/>
                <a:cs typeface="Trebuchet MS"/>
              </a:rPr>
              <a:t>Long term</a:t>
            </a:r>
            <a:endParaRPr lang="en-US" sz="1450">
              <a:solidFill>
                <a:srgbClr val="0E5E57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- Arc mainnet launch</a:t>
            </a:r>
            <a:endParaRPr lang="en-US" sz="1100">
              <a:solidFill>
                <a:srgbClr val="0E5E57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- Production-grade usage-based security workflows</a:t>
            </a:r>
            <a:endParaRPr lang="en-US" sz="1100">
              <a:solidFill>
                <a:srgbClr val="0E5E57"/>
              </a:solidFill>
            </a:endParaRPr>
          </a:p>
          <a:p>
            <a:pPr marL="0" indent="0" algn="l">
              <a:buNone/>
            </a:pPr>
            <a:r>
              <a:rPr lang="en-US" sz="110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- Agent work priced, settled, and audited natively</a:t>
            </a:r>
            <a:endParaRPr lang="en-US" sz="1100">
              <a:solidFill>
                <a:srgbClr val="0E5E5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B29"/>
          </a:solidFill>
          <a:ln>
            <a:noFill/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40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/>
            </a:r>
            <a:endParaRPr lang="en-US" sz="1400">
              <a:solidFill>
                <a:srgbClr val="102A43"/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548640" y="475488"/>
            <a:ext cx="1371600" cy="310896"/>
          </a:xfrm>
          <a:prstGeom prst="roundRect">
            <a:avLst/>
          </a:prstGeom>
          <a:solidFill>
            <a:srgbClr val="19C2A0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B29"/>
                </a:solidFill>
                <a:latin typeface="Calibri"/>
                <a:ea typeface="Calibri"/>
                <a:cs typeface="Calibri"/>
              </a:rPr>
              <a:t>Closing</a:t>
            </a:r>
            <a:endParaRPr lang="en-US" sz="1200">
              <a:solidFill>
                <a:srgbClr val="081B29"/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548640" y="9601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LaunchShield Swarm</a:t>
            </a: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5" name="Shape 5"/>
          <p:cNvSpPr/>
          <p:nvPr/>
        </p:nvSpPr>
        <p:spPr>
          <a:xfrm>
            <a:off x="548640" y="1737360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9C2A0"/>
                </a:solidFill>
                <a:latin typeface="Trebuchet MS"/>
                <a:ea typeface="Trebuchet MS"/>
                <a:cs typeface="Trebuchet MS"/>
              </a:rPr>
              <a:t>Billable. Traceable. Verifiable AI security workflows.</a:t>
            </a:r>
            <a:endParaRPr lang="en-US" sz="200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350">
                <a:solidFill>
                  <a:srgbClr val="DCE7F3"/>
                </a:solidFill>
                <a:latin typeface="Calibri"/>
                <a:ea typeface="Calibri"/>
                <a:cs typeface="Calibri"/>
              </a:rPr>
              <a:t>Arc and Circle make the workflow economically viable.</a:t>
            </a:r>
            <a:endParaRPr lang="en-US" sz="1350">
              <a:solidFill>
                <a:srgbClr val="DCE7F3"/>
              </a:solidFill>
            </a:endParaRPr>
          </a:p>
        </p:txBody>
      </p:sp>
      <p:sp>
        <p:nvSpPr>
          <p:cNvPr id="6" name="Shape 6"/>
          <p:cNvSpPr/>
          <p:nvPr/>
        </p:nvSpPr>
        <p:spPr>
          <a:xfrm>
            <a:off x="594360" y="2788920"/>
            <a:ext cx="1965960" cy="731520"/>
          </a:xfrm>
          <a:prstGeom prst="roundRect">
            <a:avLst/>
          </a:prstGeom>
          <a:solidFill>
            <a:srgbClr val="E3FAF5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E5E57"/>
                </a:solidFill>
                <a:latin typeface="Trebuchet MS"/>
                <a:ea typeface="Trebuchet MS"/>
                <a:cs typeface="Trebuchet MS"/>
              </a:rPr>
              <a:t>Billable</a:t>
            </a:r>
            <a:endParaRPr lang="en-US" sz="1600">
              <a:solidFill>
                <a:srgbClr val="0E5E57"/>
              </a:solidFill>
            </a:endParaRPr>
          </a:p>
          <a:p>
            <a:pPr marL="0" indent="0" algn="ctr">
              <a:buNone/>
            </a:pPr>
            <a:r>
              <a:rPr lang="en-US" sz="1000">
                <a:solidFill>
                  <a:srgbClr val="0E5E57"/>
                </a:solidFill>
                <a:latin typeface="Calibri"/>
                <a:ea typeface="Calibri"/>
                <a:cs typeface="Calibri"/>
              </a:rPr>
              <a:t>AI security at tool-call granularity</a:t>
            </a:r>
            <a:endParaRPr lang="en-US" sz="1000">
              <a:solidFill>
                <a:srgbClr val="0E5E57"/>
              </a:solidFill>
            </a:endParaRPr>
          </a:p>
        </p:txBody>
      </p:sp>
      <p:sp>
        <p:nvSpPr>
          <p:cNvPr id="7" name="Shape 7"/>
          <p:cNvSpPr/>
          <p:nvPr/>
        </p:nvSpPr>
        <p:spPr>
          <a:xfrm>
            <a:off x="2834640" y="2788920"/>
            <a:ext cx="196596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6CDF"/>
                </a:solidFill>
                <a:latin typeface="Trebuchet MS"/>
                <a:ea typeface="Trebuchet MS"/>
                <a:cs typeface="Trebuchet MS"/>
              </a:rPr>
              <a:t>Traceable</a:t>
            </a:r>
            <a:endParaRPr lang="en-US" sz="1600">
              <a:solidFill>
                <a:srgbClr val="2D6CDF"/>
              </a:solidFill>
            </a:endParaRPr>
          </a:p>
          <a:p>
            <a:pPr marL="0" indent="0" algn="ctr">
              <a:buNone/>
            </a:pPr>
            <a:r>
              <a:rPr lang="en-US" sz="1000">
                <a:solidFill>
                  <a:srgbClr val="2D6CDF"/>
                </a:solidFill>
                <a:latin typeface="Calibri"/>
                <a:ea typeface="Calibri"/>
                <a:cs typeface="Calibri"/>
              </a:rPr>
              <a:t>AI security at tool-call granularity</a:t>
            </a:r>
            <a:endParaRPr lang="en-US" sz="1000">
              <a:solidFill>
                <a:srgbClr val="2D6CDF"/>
              </a:solidFill>
            </a:endParaRPr>
          </a:p>
        </p:txBody>
      </p:sp>
      <p:sp>
        <p:nvSpPr>
          <p:cNvPr id="8" name="Shape 8"/>
          <p:cNvSpPr/>
          <p:nvPr/>
        </p:nvSpPr>
        <p:spPr>
          <a:xfrm>
            <a:off x="5074920" y="2788920"/>
            <a:ext cx="1965960" cy="73152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txBody>
          <a:bodyPr wrap="square" lIns="109728" tIns="109728" rIns="109728" bIns="109728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8A5A00"/>
                </a:solidFill>
                <a:latin typeface="Trebuchet MS"/>
                <a:ea typeface="Trebuchet MS"/>
                <a:cs typeface="Trebuchet MS"/>
              </a:rPr>
              <a:t>Verifiable</a:t>
            </a:r>
            <a:endParaRPr lang="en-US" sz="1600">
              <a:solidFill>
                <a:srgbClr val="8A5A00"/>
              </a:solidFill>
            </a:endParaRPr>
          </a:p>
          <a:p>
            <a:pPr marL="0" indent="0" algn="ctr">
              <a:buNone/>
            </a:pPr>
            <a:r>
              <a:rPr lang="en-US" sz="1000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AI security at tool-call granularity</a:t>
            </a:r>
            <a:endParaRPr lang="en-US" sz="1000">
              <a:solidFill>
                <a:srgbClr val="8A5A00"/>
              </a:solidFill>
            </a:endParaRPr>
          </a:p>
        </p:txBody>
      </p:sp>
      <p:sp>
        <p:nvSpPr>
          <p:cNvPr id="9" name="Shape 9"/>
          <p:cNvSpPr/>
          <p:nvPr/>
        </p:nvSpPr>
        <p:spPr>
          <a:xfrm>
            <a:off x="6355080" y="1143000"/>
            <a:ext cx="2240280" cy="1920240"/>
          </a:xfrm>
          <a:prstGeom prst="roundRect">
            <a:avLst/>
          </a:prstGeom>
          <a:solidFill>
            <a:srgbClr val="12314A"/>
          </a:solidFill>
          <a:ln w="12700">
            <a:solidFill>
              <a:srgbClr val="19C2A0"/>
            </a:solidFill>
          </a:ln>
        </p:spPr>
        <p:txBody>
          <a:bodyPr wrap="square" lIns="109728" tIns="109728" rIns="109728" bIns="109728" anchor="t"/>
          <a:lstStyle/>
          <a:p>
            <a:pPr marL="0" indent="0" algn="l">
              <a:buNone/>
            </a:pPr>
            <a:r>
              <a:rPr lang="en-US" sz="1250" b="1">
                <a:solidFill>
                  <a:srgbClr val="19C2A0"/>
                </a:solidFill>
                <a:latin typeface="Calibri"/>
                <a:ea typeface="Calibri"/>
                <a:cs typeface="Calibri"/>
              </a:rPr>
              <a:t>Product thesis</a:t>
            </a:r>
            <a:endParaRPr lang="en-US" sz="1250">
              <a:solidFill>
                <a:srgbClr val="19C2A0"/>
              </a:solidFill>
            </a:endParaRPr>
          </a:p>
          <a:p>
            <a:pPr marL="0" indent="0" algn="l">
              <a:buNone/>
            </a:pPr>
            <a:r>
              <a:rPr lang="en-US" sz="118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AI workflow that becomes many tiny valuable actions will need native micropayment rails.</a:t>
            </a:r>
            <a:endParaRPr lang="en-US" sz="1180">
              <a:solidFill>
                <a:srgbClr val="FFFFFF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66928" y="4370832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80">
                <a:solidFill>
                  <a:srgbClr val="B6C8D8"/>
                </a:solidFill>
                <a:latin typeface="Calibri"/>
                <a:ea typeface="Calibri"/>
                <a:cs typeface="Calibri"/>
              </a:rPr>
              <a:t>GitHub: github.com/Abdullahccgdq/launchshield</a:t>
            </a:r>
            <a:endParaRPr lang="en-US" sz="1080">
              <a:solidFill>
                <a:srgbClr val="B6C8D8"/>
              </a:solidFill>
            </a:endParaRPr>
          </a:p>
          <a:p>
            <a:pPr marL="0" indent="0" algn="l">
              <a:buNone/>
            </a:pPr>
            <a:r>
              <a:rPr lang="en-US" sz="1080">
                <a:solidFill>
                  <a:srgbClr val="B6C8D8"/>
                </a:solidFill>
                <a:latin typeface="Calibri"/>
                <a:ea typeface="Calibri"/>
                <a:cs typeface="Calibri"/>
              </a:rPr>
              <a:t>Demo: launchshield-swarm.fly.dev   |   Team: Red Snail</a:t>
            </a:r>
            <a:endParaRPr lang="en-US" sz="1080">
              <a:solidFill>
                <a:srgbClr val="B6C8D8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 xfr1="moreMidClr" xfr2="invMoreMidClr"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LaunchShield Swarm</vt:lpstr>
      <vt:lpstr>LaunchShield Swarm</vt:lpstr>
      <vt:lpstr>The execution model already changed. The payment model did not.</vt:lpstr>
      <vt:lpstr>Micropayments turn AI work from a black box into a priced workflow.</vt:lpstr>
      <vt:lpstr>What LaunchShield Swarm does</vt:lpstr>
      <vt:lpstr>System architecture</vt:lpstr>
      <vt:lpstr>One run becomes a live waterfall of paid actions</vt:lpstr>
      <vt:lpstr>High-signal outputs, not vague summaries</vt:lpstr>
      <vt:lpstr>Proof of settlement on Circle and Arc</vt:lpstr>
      <vt:lpstr>Why Arc + stablecoin settlement matters economically</vt:lpstr>
      <vt:lpstr>Who needs this first</vt:lpstr>
      <vt:lpstr>Roadmap</vt:lpstr>
      <vt:lpstr>LaunchShield Swarm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LaunchShield Swarm</dc:title>
  <dc:creator>Codex</dc:creator>
  <cp:lastModifiedBy>Codex</cp:lastModifiedBy>
  <cp:revision>2</cp:revision>
  <dcterms:created xsi:type="dcterms:W3CDTF">2026-04-25T13:35:07Z</dcterms:created>
  <dcterms:modified xsi:type="dcterms:W3CDTF">2026-04-25T13:35:07Z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2052</vt:i4>
  </property>
  <property fmtid="{D5CDD505-2E9C-101B-9397-08002B2CF9AE}" pid="3" name="_Version">
    <vt:lpwstr>12.0.4518</vt:lpwstr>
  </property>
</Properties>
</file>